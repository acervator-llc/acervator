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1 — Open Releases</a:t>
            </a:r>
          </a:p>
        </p:txBody>
      </p:sp>
      <p:pic>
        <p:nvPicPr>
          <p:cNvPr id="3" name="Picture 2" descr="step-1-open-rele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5022" y="1621155"/>
            <a:ext cx="5581650" cy="3524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Open Releases in the right column of the repository page.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2 — Take the newest release</a:t>
            </a:r>
          </a:p>
        </p:txBody>
      </p:sp>
      <p:pic>
        <p:nvPicPr>
          <p:cNvPr id="3" name="Picture 2" descr="step-2-take-the-newest-rele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5022" y="1621155"/>
            <a:ext cx="5581650" cy="3524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Open the release marked Latest.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3 — Pick one file</a:t>
            </a:r>
          </a:p>
        </p:txBody>
      </p:sp>
      <p:pic>
        <p:nvPicPr>
          <p:cNvPr id="3" name="Picture 2" descr="step-3-pick-one-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35083"/>
            <a:ext cx="11094415" cy="229639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Take the one file whose middle column names your computer.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4 — On Windows</a:t>
            </a:r>
          </a:p>
        </p:txBody>
      </p:sp>
      <p:pic>
        <p:nvPicPr>
          <p:cNvPr id="3" name="Picture 2" descr="step-4-on-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63657"/>
            <a:ext cx="11094415" cy="32392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Right-click the file, choose Extract All, open the folder it makes, and double-click the program inside.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5 — On a Mac</a:t>
            </a:r>
          </a:p>
        </p:txBody>
      </p:sp>
      <p:pic>
        <p:nvPicPr>
          <p:cNvPr id="3" name="Picture 2" descr="step-5-on-a-m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25180"/>
            <a:ext cx="11094415" cy="2516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Double-click the file, then drag Acervator to the Applications folder.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6 — The window opens</a:t>
            </a:r>
          </a:p>
        </p:txBody>
      </p:sp>
      <p:pic>
        <p:nvPicPr>
          <p:cNvPr id="3" name="Picture 2" descr="step-6-window-op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73087"/>
            <a:ext cx="11094415" cy="122038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Acervator opens on Status. Press Live.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7 — Live has no venue</a:t>
            </a:r>
          </a:p>
        </p:txBody>
      </p:sp>
      <p:pic>
        <p:nvPicPr>
          <p:cNvPr id="3" name="Picture 2" descr="step-7-live-has-no-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210" y="2087880"/>
            <a:ext cx="7153275" cy="2590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No venue is stored. Press Add Crypto Exchange.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8 — Enter the venue keys</a:t>
            </a:r>
          </a:p>
        </p:txBody>
      </p:sp>
      <p:pic>
        <p:nvPicPr>
          <p:cNvPr id="3" name="Picture 2" descr="step-8-enter-the-venue-ke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4083" y="1554480"/>
            <a:ext cx="6723529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Type the key and the secret. Press Test and Add Exchange.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9 — Choose the engine</a:t>
            </a:r>
          </a:p>
        </p:txBody>
      </p:sp>
      <p:pic>
        <p:nvPicPr>
          <p:cNvPr id="3" name="Picture 2" descr="step-9-choose-the-eng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039" y="1554480"/>
            <a:ext cx="7133617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Press Accumulation Trading (Scrumming), then Next.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10 — Name what it trades</a:t>
            </a:r>
          </a:p>
        </p:txBody>
      </p:sp>
      <p:pic>
        <p:nvPicPr>
          <p:cNvPr id="3" name="Picture 2" descr="step-10-name-what-it-tra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7434" y="1554480"/>
            <a:ext cx="6936827" cy="36575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Pick the venue, then the pair. Press Next.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11 — How far price must move</a:t>
            </a:r>
          </a:p>
        </p:txBody>
      </p:sp>
      <p:pic>
        <p:nvPicPr>
          <p:cNvPr id="3" name="Picture 2" descr="step-11-how-far-price-must-m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96" y="1554480"/>
            <a:ext cx="6606502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Leave Opposing Trade Interval at 1.00 %.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12 — What it watches</a:t>
            </a:r>
          </a:p>
        </p:txBody>
      </p:sp>
      <p:pic>
        <p:nvPicPr>
          <p:cNvPr id="3" name="Picture 2" descr="step-12-what-it-wat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097" y="2083117"/>
            <a:ext cx="10477500" cy="26003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Leave TA Timeframe on 1h.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13 — Set the Target Balance</a:t>
            </a:r>
          </a:p>
        </p:txBody>
      </p:sp>
      <p:pic>
        <p:nvPicPr>
          <p:cNvPr id="3" name="Picture 2" descr="step-13-set-the-target-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5281" y="1554480"/>
            <a:ext cx="6901132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Set Target Balance.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14 — The price window</a:t>
            </a:r>
          </a:p>
        </p:txBody>
      </p:sp>
      <p:pic>
        <p:nvPicPr>
          <p:cNvPr id="3" name="Picture 2" descr="step-14-the-price-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96" y="1554480"/>
            <a:ext cx="6606502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Leave Max Entry Price and Min Entry Price at zero.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15 — What a cycle keeps</a:t>
            </a:r>
          </a:p>
        </p:txBody>
      </p:sp>
      <p:pic>
        <p:nvPicPr>
          <p:cNvPr id="3" name="Picture 2" descr="step-15-what-a-cycle-ke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96" y="1554480"/>
            <a:ext cx="6606502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Leave the last three rows as they open.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16 — The reserve for a dip</a:t>
            </a:r>
          </a:p>
        </p:txBody>
      </p:sp>
      <p:pic>
        <p:nvPicPr>
          <p:cNvPr id="3" name="Picture 2" descr="step-16-the-reserve-for-a-d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097" y="2149792"/>
            <a:ext cx="10477500" cy="24669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Leave Hedge Rebalance Active ticked, then press Next.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17 — Leave the shadow bot off</a:t>
            </a:r>
          </a:p>
        </p:txBody>
      </p:sp>
      <p:pic>
        <p:nvPicPr>
          <p:cNvPr id="3" name="Picture 2" descr="step-17-leave-the-shadow-bot-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097" y="2154555"/>
            <a:ext cx="1047750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Leave Enable Phantom Bots clear.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18 — How long a lock holds</a:t>
            </a:r>
          </a:p>
        </p:txBody>
      </p:sp>
      <p:pic>
        <p:nvPicPr>
          <p:cNvPr id="3" name="Picture 2" descr="step-18-how-long-a-lock-ho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097" y="2068830"/>
            <a:ext cx="10477500" cy="26289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Leave Candles to lock at 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19 — Create the bot</a:t>
            </a:r>
          </a:p>
        </p:txBody>
      </p:sp>
      <p:pic>
        <p:nvPicPr>
          <p:cNvPr id="3" name="Picture 2" descr="step-19-create-the-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097" y="2611755"/>
            <a:ext cx="10477500" cy="15430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Press Finish.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20 — Make the fleet</a:t>
            </a:r>
          </a:p>
        </p:txBody>
      </p:sp>
      <p:pic>
        <p:nvPicPr>
          <p:cNvPr id="3" name="Picture 2" descr="step-20-make-the-fl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229" y="1554480"/>
            <a:ext cx="9901237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Open Inspector and scan. Press Preview on a topology proposal, then Adopt.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21 — Start the fleet</a:t>
            </a:r>
          </a:p>
        </p:txBody>
      </p:sp>
      <p:pic>
        <p:nvPicPr>
          <p:cNvPr id="3" name="Picture 2" descr="step-21-start-the-fl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33464"/>
            <a:ext cx="11094415" cy="12996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Start each bot from the bot list under Live.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22 — The Simulator</a:t>
            </a:r>
          </a:p>
        </p:txBody>
      </p:sp>
      <p:pic>
        <p:nvPicPr>
          <p:cNvPr id="3" name="Picture 2" descr="step-22-the-sim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67991"/>
            <a:ext cx="11094415" cy="18305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Press Sim.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23 — Paper first</a:t>
            </a:r>
          </a:p>
        </p:txBody>
      </p:sp>
      <p:pic>
        <p:nvPicPr>
          <p:cNvPr id="3" name="Picture 2" descr="step-23-paper-fi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210" y="1616392"/>
            <a:ext cx="7153275" cy="35337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Press Import Live Fleet.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24 — The chart</a:t>
            </a:r>
          </a:p>
        </p:txBody>
      </p:sp>
      <p:pic>
        <p:nvPicPr>
          <p:cNvPr id="3" name="Picture 2" descr="step-24-the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67991"/>
            <a:ext cx="11094415" cy="18305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Press Charts.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25 — The market inspector</a:t>
            </a:r>
          </a:p>
        </p:txBody>
      </p:sp>
      <p:pic>
        <p:nvPicPr>
          <p:cNvPr id="3" name="Picture 2" descr="step-25-the-market-insp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67991"/>
            <a:ext cx="11094415" cy="18305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Press Inspector.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26 — The swarm</a:t>
            </a:r>
          </a:p>
        </p:txBody>
      </p:sp>
      <p:pic>
        <p:nvPicPr>
          <p:cNvPr id="3" name="Picture 2" descr="step-26-the-s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67991"/>
            <a:ext cx="11094415" cy="18305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Press Swarm.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Step 27 — What it has traded</a:t>
            </a:r>
          </a:p>
        </p:txBody>
      </p:sp>
      <p:pic>
        <p:nvPicPr>
          <p:cNvPr id="3" name="Picture 2" descr="step-27-what-it-has-tr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67991"/>
            <a:ext cx="11094415" cy="18305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FFB000"/>
                </a:solidFill>
                <a:latin typeface="Calibri"/>
              </a:rPr>
              <a:t>Press History.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
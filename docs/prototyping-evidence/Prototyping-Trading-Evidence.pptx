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03120"/>
            <a:ext cx="111858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A68"/>
                </a:solidFill>
              </a:rPr>
              <a:t>Ekthelius's Prototyping Trading Evidence: 04/12/2026~10/31/2026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703320"/>
            <a:ext cx="11185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</a:rPr>
              <a:t>The year's live fills, the average price drawn from them, and the market they ran in.</a:t>
            </a:r>
          </a:p>
          <a:p>
            <a:pPr algn="ctr"/>
            <a:r>
              <a:rPr sz="1400" b="0">
                <a:solidFill>
                  <a:srgbClr val="6B6B6B"/>
                </a:solidFill>
              </a:rPr>
              <a:t>Every asset is labelled A01 to A40 and named nowhere.</a:t>
            </a:r>
          </a:p>
          <a:p>
            <a:pPr algn="ctr"/>
            <a:r>
              <a:rPr sz="1400" b="0">
                <a:solidFill>
                  <a:srgbClr val="6B6B6B"/>
                </a:solidFill>
              </a:rPr>
              <a:t/>
            </a:r>
          </a:p>
          <a:p>
            <a:pPr algn="ctr"/>
            <a:r>
              <a:rPr sz="1400" b="0">
                <a:solidFill>
                  <a:srgbClr val="6B6B6B"/>
                </a:solidFill>
              </a:rPr>
              <a:t>9,052 fills on 40 bases, 12 Apr to 31 Oct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write_evidence_deck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What the record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The fill record is the operator's own venue export. No row of it is reproduced here. Every figure is an aggregate over that record.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111858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4267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The newest export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Physical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Body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Fills on a charted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Charted bases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First 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12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Last 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31 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Rows carrying no 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Drops by cause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Deposit 15; Reward Income 24; Withdrawal 1; quote cash leg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export_reading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How the average is drawn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 running sum of price times quantity over a running sum of quantity. The price is the export's Price at Transaction column.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A fee is a transaction cost and not a price, so the fee column stays out.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1 unit at $10 and 3 at $20 average 17.50, weighted by quantity. The unweighted mean of the two prices is 15.00, so a lost weighting would show as a gap of 2.50.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eight most-traded bases on one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Each line is that base's running buy average divided by its own first value, so a base priced in cents and one priced in thousands share one axis.</a:t>
            </a:r>
          </a:p>
        </p:txBody>
      </p:sp>
      <p:pic>
        <p:nvPicPr>
          <p:cNvPr id="4" name="Picture 3" descr="vwap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854" y="1645920"/>
            <a:ext cx="5693986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figures/vwap_combined.png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Where the eight lines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 falling line says the average cost of the units now held fell. It is not profit, and the index carries no sale in it at all.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00784"/>
          <a:ext cx="111858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4978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Asset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Fills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First buy VWAP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Final buy VWAP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Final index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1.5915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0.621713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0.10842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0.0453699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0.11868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0.0125314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0.2478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0.267397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0.01722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0.0453765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2.635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359.67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606.914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1.687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0.00395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0.00228008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0.01581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0.00552588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base_rows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Two readings, and neither stands in for the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The trajectory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What the units now held cost on average. It keeps moving while the position is open, counts every buy, and carries no sale at all.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It says nothing about whether a sale ever cleared its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The sell-over-buy ratio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Whether the trades already closed sold above what they cost. One settled figure per base across the whole record.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It counts only what completed on both sides, so it says nothing about the units still held.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trajectory and sell_over_buy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average sale against the average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Above 1.000 the average sale price beat the average buy price. The figure reads how the closed trades performed, and nothing else.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111858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3886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Bases with four fills a side or more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Finishing above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Finishing below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Landing exactly on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A29 at 1.212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A20 at 0.909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Carrying no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7492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 base with three fills or fewer on a side carries no ratio, because a mean over so few fills moves with any one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sell_over_buy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A01 — 959 fills, 572 buys, 387 sells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Buy VWAP from 1.5915 to 0.621713, index 0.391; sell over buy 0.932; 21 Apr to 30 Oct.</a:t>
            </a:r>
          </a:p>
        </p:txBody>
      </p:sp>
      <p:pic>
        <p:nvPicPr>
          <p:cNvPr id="4" name="Picture 3" descr="vwap_a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389" y="1609344"/>
            <a:ext cx="605291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figures/vwap_a01.png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A02 — 681 fills, 364 buys, 317 sells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Buy VWAP from 0.10842 to 0.0453699, index 0.418; sell over buy 1.026; 22 Apr to 30 Oct.</a:t>
            </a:r>
          </a:p>
        </p:txBody>
      </p:sp>
      <p:pic>
        <p:nvPicPr>
          <p:cNvPr id="4" name="Picture 3" descr="vwap_a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110" y="1609344"/>
            <a:ext cx="610547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figures/vwap_a02.png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A03 — 649 fills, 384 buys, 265 sells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Buy VWAP from 0.11868 to 0.0125314, index 0.106; sell over buy 1.040; 9 May to 31 Oct.</a:t>
            </a:r>
          </a:p>
        </p:txBody>
      </p:sp>
      <p:pic>
        <p:nvPicPr>
          <p:cNvPr id="4" name="Picture 3" descr="vwap_a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831" y="1609344"/>
            <a:ext cx="6158032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figures/vwap_a03.png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A04 — 407 fills, 193 buys, 214 sells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Buy VWAP from 0.2478 to 0.267397, index 1.079; sell over buy 1.124; 29 May to 29 Oct.</a:t>
            </a:r>
          </a:p>
        </p:txBody>
      </p:sp>
      <p:pic>
        <p:nvPicPr>
          <p:cNvPr id="4" name="Picture 3" descr="vwap_a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389" y="1609344"/>
            <a:ext cx="605291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figures/vwap_a04.png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A05 — 384 fills, 210 buys, 174 sells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Buy VWAP from 359.67 to 606.914, index 1.687; sell over buy 1.124; 24 Apr to 30 Oct.</a:t>
            </a:r>
          </a:p>
        </p:txBody>
      </p:sp>
      <p:pic>
        <p:nvPicPr>
          <p:cNvPr id="4" name="Picture 3" descr="vwap_a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389" y="1609344"/>
            <a:ext cx="605291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figures/vwap_a05.png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A06 — 361 fills, 204 buys, 157 sells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Buy VWAP from 0.01581 to 0.00552588, index 0.350; sell over buy 0.993; 24 Apr to 30 Oct.</a:t>
            </a:r>
          </a:p>
        </p:txBody>
      </p:sp>
      <p:pic>
        <p:nvPicPr>
          <p:cNvPr id="4" name="Picture 3" descr="vwap_a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110" y="1609344"/>
            <a:ext cx="610547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figures/vwap_a06.png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A07 — 307 fills, 201 buys, 106 sells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Buy VWAP from 0.05537 to 0.0307559, index 0.555; sell over buy 0.999; 3 May to 30 Oct.</a:t>
            </a:r>
          </a:p>
        </p:txBody>
      </p:sp>
      <p:pic>
        <p:nvPicPr>
          <p:cNvPr id="4" name="Picture 3" descr="vwap_a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389" y="1609344"/>
            <a:ext cx="605291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figures/vwap_a07.png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A08 — 325 fills, 194 buys, 131 sells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Buy VWAP from 0.0508 to 0.0219571, index 0.432; sell over buy 0.975; 23 Apr to 31 Oct.</a:t>
            </a:r>
          </a:p>
        </p:txBody>
      </p:sp>
      <p:pic>
        <p:nvPicPr>
          <p:cNvPr id="4" name="Picture 3" descr="vwap_a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110" y="1609344"/>
            <a:ext cx="610547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figures/vwap_a08.png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remaining bases, A09 to A14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Six charts to a slide. Each one carries the same two lines and the same net-units panel as the eight above.</a:t>
            </a:r>
          </a:p>
        </p:txBody>
      </p:sp>
      <p:pic>
        <p:nvPicPr>
          <p:cNvPr id="4" name="Picture 3" descr="vwap_a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74" y="1572768"/>
            <a:ext cx="2816494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A09   273 fills   index 0.986</a:t>
            </a:r>
          </a:p>
        </p:txBody>
      </p:sp>
      <p:pic>
        <p:nvPicPr>
          <p:cNvPr id="6" name="Picture 5" descr="vwap_a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24" y="1572768"/>
            <a:ext cx="282883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31538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A10   277 fills   index 1.002</a:t>
            </a:r>
          </a:p>
        </p:txBody>
      </p:sp>
      <p:pic>
        <p:nvPicPr>
          <p:cNvPr id="8" name="Picture 7" descr="vwap_a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874" y="1572768"/>
            <a:ext cx="2841165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60156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A11   405 fills   index 2.635</a:t>
            </a:r>
          </a:p>
        </p:txBody>
      </p:sp>
      <p:pic>
        <p:nvPicPr>
          <p:cNvPr id="10" name="Picture 9" descr="vwap_a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304" y="4059936"/>
            <a:ext cx="2865834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A12   250 fills   index 0.802</a:t>
            </a:r>
          </a:p>
        </p:txBody>
      </p:sp>
      <p:pic>
        <p:nvPicPr>
          <p:cNvPr id="12" name="Picture 11" descr="vwap_a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927" y="4059936"/>
            <a:ext cx="2791824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1538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A13   259 fills   index 1.128</a:t>
            </a:r>
          </a:p>
        </p:txBody>
      </p:sp>
      <p:pic>
        <p:nvPicPr>
          <p:cNvPr id="14" name="Picture 13" descr="vwap_a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874" y="4059936"/>
            <a:ext cx="2841165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0156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A14   194 fills   index 0.902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figures/vwap_a&lt;NN&gt;.png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remaining bases, A15 to A20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Six charts to a slide. Each one carries the same two lines and the same net-units panel as the eight above.</a:t>
            </a:r>
          </a:p>
        </p:txBody>
      </p:sp>
      <p:pic>
        <p:nvPicPr>
          <p:cNvPr id="4" name="Picture 3" descr="vwap_a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04" y="1572768"/>
            <a:ext cx="2865834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A15   182 fills   index 0.917</a:t>
            </a:r>
          </a:p>
        </p:txBody>
      </p:sp>
      <p:pic>
        <p:nvPicPr>
          <p:cNvPr id="6" name="Picture 5" descr="vwap_a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592" y="1572768"/>
            <a:ext cx="2816494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31538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A16   188 fills   index 0.909</a:t>
            </a:r>
          </a:p>
        </p:txBody>
      </p:sp>
      <p:pic>
        <p:nvPicPr>
          <p:cNvPr id="8" name="Picture 7" descr="vwap_a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042" y="1572768"/>
            <a:ext cx="282883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60156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A17   198 fills   index 1.097</a:t>
            </a:r>
          </a:p>
        </p:txBody>
      </p:sp>
      <p:pic>
        <p:nvPicPr>
          <p:cNvPr id="10" name="Picture 9" descr="vwap_a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74" y="4059936"/>
            <a:ext cx="2816494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A18   179 fills   index 0.975</a:t>
            </a:r>
          </a:p>
        </p:txBody>
      </p:sp>
      <p:pic>
        <p:nvPicPr>
          <p:cNvPr id="12" name="Picture 11" descr="vwap_a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2754" y="4059936"/>
            <a:ext cx="287817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1538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A19   381 fills   index 0.577</a:t>
            </a:r>
          </a:p>
        </p:txBody>
      </p:sp>
      <p:pic>
        <p:nvPicPr>
          <p:cNvPr id="14" name="Picture 13" descr="vwap_a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8847" y="4059936"/>
            <a:ext cx="284322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0156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A20   158 fills   index 0.382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figures/vwap_a&lt;NN&gt;.png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remaining bases, A21 to A26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Six charts to a slide. Each one carries the same two lines and the same net-units panel as the eight above.</a:t>
            </a:r>
          </a:p>
        </p:txBody>
      </p:sp>
      <p:pic>
        <p:nvPicPr>
          <p:cNvPr id="4" name="Picture 3" descr="vwap_a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06" y="1572768"/>
            <a:ext cx="282883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A21   143 fills   index 1.069</a:t>
            </a:r>
          </a:p>
        </p:txBody>
      </p:sp>
      <p:pic>
        <p:nvPicPr>
          <p:cNvPr id="6" name="Picture 5" descr="vwap_a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643" y="1572768"/>
            <a:ext cx="2886392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31538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A22   134 fills   index 0.895</a:t>
            </a:r>
          </a:p>
        </p:txBody>
      </p:sp>
      <p:pic>
        <p:nvPicPr>
          <p:cNvPr id="8" name="Picture 7" descr="vwap_a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2210" y="1572768"/>
            <a:ext cx="2816494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60156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A23   119 fills   index 1.007</a:t>
            </a:r>
          </a:p>
        </p:txBody>
      </p:sp>
      <p:pic>
        <p:nvPicPr>
          <p:cNvPr id="10" name="Picture 9" descr="vwap_a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304" y="4059936"/>
            <a:ext cx="2865834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A24   301 fills   index 0.300</a:t>
            </a:r>
          </a:p>
        </p:txBody>
      </p:sp>
      <p:pic>
        <p:nvPicPr>
          <p:cNvPr id="12" name="Picture 11" descr="vwap_a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592" y="4059936"/>
            <a:ext cx="2816494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1538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A25   163 fills   index 0.834</a:t>
            </a:r>
          </a:p>
        </p:txBody>
      </p:sp>
      <p:pic>
        <p:nvPicPr>
          <p:cNvPr id="14" name="Picture 13" descr="vwap_a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42" y="4059936"/>
            <a:ext cx="282883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0156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A26   117 fills   index 0.886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figures/vwap_a&lt;NN&gt;.png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remaining bases, A27 to A32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Six charts to a slide. Each one carries the same two lines and the same net-units panel as the eight above.</a:t>
            </a:r>
          </a:p>
        </p:txBody>
      </p:sp>
      <p:pic>
        <p:nvPicPr>
          <p:cNvPr id="4" name="Picture 3" descr="vwap_a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06" y="1572768"/>
            <a:ext cx="282883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A27   117 fills   index 0.956</a:t>
            </a:r>
          </a:p>
        </p:txBody>
      </p:sp>
      <p:pic>
        <p:nvPicPr>
          <p:cNvPr id="6" name="Picture 5" descr="vwap_a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24" y="1572768"/>
            <a:ext cx="282883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31538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A28   100 fills   index 1.031</a:t>
            </a:r>
          </a:p>
        </p:txBody>
      </p:sp>
      <p:pic>
        <p:nvPicPr>
          <p:cNvPr id="8" name="Picture 7" descr="vwap_a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540" y="1572768"/>
            <a:ext cx="2865834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60156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A29   170 fills   index 1.879</a:t>
            </a:r>
          </a:p>
        </p:txBody>
      </p:sp>
      <p:pic>
        <p:nvPicPr>
          <p:cNvPr id="10" name="Picture 9" descr="vwap_a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09" y="4059936"/>
            <a:ext cx="2791824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A30   149 fills   index 1.119</a:t>
            </a:r>
          </a:p>
        </p:txBody>
      </p:sp>
      <p:pic>
        <p:nvPicPr>
          <p:cNvPr id="12" name="Picture 11" descr="vwap_a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424" y="4059936"/>
            <a:ext cx="282883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1538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A31   66 fills   index 0.892</a:t>
            </a:r>
          </a:p>
        </p:txBody>
      </p:sp>
      <p:pic>
        <p:nvPicPr>
          <p:cNvPr id="14" name="Picture 13" descr="vwap_a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349" y="4059936"/>
            <a:ext cx="2806215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0156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A32   78 fills   index 1.273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figures/vwap_a&lt;NN&gt;.png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remaining bases, A33 to A38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Six charts to a slide. Each one carries the same two lines and the same net-units panel as the eight above.</a:t>
            </a:r>
          </a:p>
        </p:txBody>
      </p:sp>
      <p:pic>
        <p:nvPicPr>
          <p:cNvPr id="4" name="Picture 3" descr="vwap_a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06" y="1572768"/>
            <a:ext cx="282883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A33   161 fills   index 1.224</a:t>
            </a:r>
          </a:p>
        </p:txBody>
      </p:sp>
      <p:pic>
        <p:nvPicPr>
          <p:cNvPr id="6" name="Picture 5" descr="vwap_a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396" y="1572768"/>
            <a:ext cx="2830885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31538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A34   53 fills   index 1.112</a:t>
            </a:r>
          </a:p>
        </p:txBody>
      </p:sp>
      <p:pic>
        <p:nvPicPr>
          <p:cNvPr id="8" name="Picture 7" descr="vwap_a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042" y="1572768"/>
            <a:ext cx="282883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60156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A35   55 fills   index 1.011</a:t>
            </a:r>
          </a:p>
        </p:txBody>
      </p:sp>
      <p:pic>
        <p:nvPicPr>
          <p:cNvPr id="10" name="Picture 9" descr="vwap_a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3" y="4059936"/>
            <a:ext cx="2806215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A36   31 fills   index 1.100</a:t>
            </a:r>
          </a:p>
        </p:txBody>
      </p:sp>
      <p:pic>
        <p:nvPicPr>
          <p:cNvPr id="12" name="Picture 11" descr="vwap_a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2754" y="4059936"/>
            <a:ext cx="287817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1538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A37   19 fills   index 0.951</a:t>
            </a:r>
          </a:p>
        </p:txBody>
      </p:sp>
      <p:pic>
        <p:nvPicPr>
          <p:cNvPr id="14" name="Picture 13" descr="vwap_a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707" y="4059936"/>
            <a:ext cx="2853499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0156" y="6163056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A38   18 fills   index 1.073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figures/vwap_a&lt;NN&gt;.png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remaining bases, A39 to A40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Six charts to a slide. Each one carries the same two lines and the same net-units panel as the eight above.</a:t>
            </a:r>
          </a:p>
        </p:txBody>
      </p:sp>
      <p:pic>
        <p:nvPicPr>
          <p:cNvPr id="4" name="Picture 3" descr="vwap_a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83" y="1572768"/>
            <a:ext cx="2845276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A39   20 fills   index 0.929</a:t>
            </a:r>
          </a:p>
        </p:txBody>
      </p:sp>
      <p:pic>
        <p:nvPicPr>
          <p:cNvPr id="6" name="Picture 5" descr="vwap_a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759" y="1572768"/>
            <a:ext cx="2804159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31538" y="3675888"/>
            <a:ext cx="360060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A40   21 fills   index 0.968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figures/vwap_a&lt;NN&gt;.png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Why the band's bar is a day 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The grey channel behind the fills is a Bollinger band at period 20 and width 2. It puts a trade at a volatility extreme on the picture.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111858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Bar length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Bands drawn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Zero width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Fills in a banded bar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1,668,377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1,553,229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15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555,647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458,049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138,370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74,966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8,753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34,060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8,313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93776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At 5 minutes, 93.1% of the channel has no width, so the band traces the price line and shows no extreme. At 1 day, 0.7% has no width. The charts use bars of 1 day, and 20 of them must close before the first band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band_tally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Where the fills landed against the band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The upper line is 2 standard deviations above the recent average price, so a sell on it is a sale made at the top of that base's range.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111858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Fills at or above the upper band, 40 bases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Fills at or below the lower band, 40 bases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Sells at or above the upper band, most often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A11 at 73, A02 at 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Buys at or below the lower band, most often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A03 at 54, A15 at 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480560"/>
            <a:ext cx="111858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Nothing about a fill at a band edge says it was profitable. It says where in the recent price distribution the trade landed. A dot inside the channel is an ordinary 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band_tally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market A01's fills ran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 weekly bar hides what happens inside its week, and inside the week is where the cycle works. The trace plots every five-minute close.</a:t>
            </a:r>
          </a:p>
        </p:txBody>
      </p:sp>
      <p:pic>
        <p:nvPicPr>
          <p:cNvPr id="4" name="Picture 3" descr="weekly_a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1421"/>
            <a:ext cx="5455767" cy="30260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96128"/>
            <a:ext cx="5455767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A01 weekly chart, 34 weekly candles built from 50,380 five-minute rows.</a:t>
            </a:r>
          </a:p>
        </p:txBody>
      </p:sp>
      <p:pic>
        <p:nvPicPr>
          <p:cNvPr id="6" name="Picture 5" descr="trace_a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182989"/>
            <a:ext cx="5455767" cy="28029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33007" y="5596128"/>
            <a:ext cx="5455767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A01 price trace, 50,380 five-minute closes across the recorded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figures/weekly_a&lt;NN&gt;.png and trace_a&lt;NN&gt;.png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market A02's fills ran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 weekly bar hides what happens inside its week, and inside the week is where the cycle works. The trace plots every five-minute close.</a:t>
            </a:r>
          </a:p>
        </p:txBody>
      </p:sp>
      <p:pic>
        <p:nvPicPr>
          <p:cNvPr id="4" name="Picture 3" descr="weekly_a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8224"/>
            <a:ext cx="5455767" cy="30124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96128"/>
            <a:ext cx="5455767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A02 weekly chart, 24 weekly candles built from 38,463 five-minute rows.</a:t>
            </a:r>
          </a:p>
        </p:txBody>
      </p:sp>
      <p:pic>
        <p:nvPicPr>
          <p:cNvPr id="6" name="Picture 5" descr="trace_a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164084"/>
            <a:ext cx="5455767" cy="2840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33007" y="5596128"/>
            <a:ext cx="5455767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A02 price trace, 38,463 five-minute closes across the recorded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figures/weekly_a&lt;NN&gt;.png and trace_a&lt;NN&gt;.png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market A03's fills ran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 weekly bar hides what happens inside its week, and inside the week is where the cycle works. The trace plots every five-minute close.</a:t>
            </a:r>
          </a:p>
        </p:txBody>
      </p:sp>
      <p:pic>
        <p:nvPicPr>
          <p:cNvPr id="4" name="Picture 3" descr="weekly_a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82277"/>
            <a:ext cx="5455767" cy="3004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96128"/>
            <a:ext cx="5455767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A03 weekly chart, 22 weekly candles built from 39,186 five-minute rows.</a:t>
            </a:r>
          </a:p>
        </p:txBody>
      </p:sp>
      <p:pic>
        <p:nvPicPr>
          <p:cNvPr id="6" name="Picture 5" descr="trace_a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167906"/>
            <a:ext cx="5455767" cy="28330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33007" y="5596128"/>
            <a:ext cx="5455767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A03 price trace, 39,186 five-minute closes across the recorded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figures/weekly_a&lt;NN&gt;.png and trace_a&lt;NN&gt;.png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venue's own position cards, A01 to A10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Each card carries the entry price the venue holds for the open position, the current price, and the gain or loss. The figures are the venue's own.</a:t>
            </a:r>
          </a:p>
        </p:txBody>
      </p:sp>
      <p:pic>
        <p:nvPicPr>
          <p:cNvPr id="4" name="Picture 3" descr="card_a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95" y="1627632"/>
            <a:ext cx="1564893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A01</a:t>
            </a:r>
          </a:p>
        </p:txBody>
      </p:sp>
      <p:pic>
        <p:nvPicPr>
          <p:cNvPr id="6" name="Picture 5" descr="card_a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366" y="1627632"/>
            <a:ext cx="1564893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0091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A02</a:t>
            </a:r>
          </a:p>
        </p:txBody>
      </p:sp>
      <p:pic>
        <p:nvPicPr>
          <p:cNvPr id="8" name="Picture 7" descr="card_a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537" y="1627632"/>
            <a:ext cx="1564893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77262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A03</a:t>
            </a:r>
          </a:p>
        </p:txBody>
      </p:sp>
      <p:pic>
        <p:nvPicPr>
          <p:cNvPr id="10" name="Picture 9" descr="card_a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708" y="1627632"/>
            <a:ext cx="1564893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4433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A04</a:t>
            </a:r>
          </a:p>
        </p:txBody>
      </p:sp>
      <p:pic>
        <p:nvPicPr>
          <p:cNvPr id="12" name="Picture 11" descr="card_a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9" y="1627632"/>
            <a:ext cx="1564893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51604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A05</a:t>
            </a:r>
          </a:p>
        </p:txBody>
      </p:sp>
      <p:pic>
        <p:nvPicPr>
          <p:cNvPr id="14" name="Picture 13" descr="card_a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195" y="3968496"/>
            <a:ext cx="1564893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A06</a:t>
            </a:r>
          </a:p>
        </p:txBody>
      </p:sp>
      <p:pic>
        <p:nvPicPr>
          <p:cNvPr id="16" name="Picture 15" descr="card_a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1366" y="3968496"/>
            <a:ext cx="1564893" cy="1920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40091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A07</a:t>
            </a:r>
          </a:p>
        </p:txBody>
      </p:sp>
      <p:pic>
        <p:nvPicPr>
          <p:cNvPr id="18" name="Picture 17" descr="card_a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8537" y="3968496"/>
            <a:ext cx="1564893" cy="1920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77262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A08</a:t>
            </a:r>
          </a:p>
        </p:txBody>
      </p:sp>
      <p:pic>
        <p:nvPicPr>
          <p:cNvPr id="20" name="Picture 19" descr="card_a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5708" y="3968496"/>
            <a:ext cx="1564893" cy="1920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14433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A09</a:t>
            </a:r>
          </a:p>
        </p:txBody>
      </p:sp>
      <p:pic>
        <p:nvPicPr>
          <p:cNvPr id="22" name="Picture 21" descr="card_a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2879" y="3968496"/>
            <a:ext cx="1564893" cy="1920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51604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figures/card_a&lt;NN&gt;.png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venue's own position cards, A11 to A20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Each card carries the entry price the venue holds for the open position, the current price, and the gain or loss. The figures are the venue's own.</a:t>
            </a:r>
          </a:p>
        </p:txBody>
      </p:sp>
      <p:pic>
        <p:nvPicPr>
          <p:cNvPr id="4" name="Picture 3" descr="card_a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95" y="1627632"/>
            <a:ext cx="1564893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A11</a:t>
            </a:r>
          </a:p>
        </p:txBody>
      </p:sp>
      <p:pic>
        <p:nvPicPr>
          <p:cNvPr id="6" name="Picture 5" descr="card_a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366" y="1627632"/>
            <a:ext cx="1564893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0091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A12</a:t>
            </a:r>
          </a:p>
        </p:txBody>
      </p:sp>
      <p:pic>
        <p:nvPicPr>
          <p:cNvPr id="8" name="Picture 7" descr="card_a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537" y="1627632"/>
            <a:ext cx="1564893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77262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A13</a:t>
            </a:r>
          </a:p>
        </p:txBody>
      </p:sp>
      <p:pic>
        <p:nvPicPr>
          <p:cNvPr id="10" name="Picture 9" descr="card_a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708" y="1627632"/>
            <a:ext cx="1564893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4433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A14</a:t>
            </a:r>
          </a:p>
        </p:txBody>
      </p:sp>
      <p:pic>
        <p:nvPicPr>
          <p:cNvPr id="12" name="Picture 11" descr="card_a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9" y="1627632"/>
            <a:ext cx="1564893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51604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A15</a:t>
            </a:r>
          </a:p>
        </p:txBody>
      </p:sp>
      <p:pic>
        <p:nvPicPr>
          <p:cNvPr id="14" name="Picture 13" descr="card_a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195" y="3968496"/>
            <a:ext cx="1564893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A16</a:t>
            </a:r>
          </a:p>
        </p:txBody>
      </p:sp>
      <p:pic>
        <p:nvPicPr>
          <p:cNvPr id="16" name="Picture 15" descr="card_a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1366" y="3968496"/>
            <a:ext cx="1564893" cy="1920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40091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A17</a:t>
            </a:r>
          </a:p>
        </p:txBody>
      </p:sp>
      <p:pic>
        <p:nvPicPr>
          <p:cNvPr id="18" name="Picture 17" descr="card_a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8537" y="3968496"/>
            <a:ext cx="1564893" cy="1920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77262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A18</a:t>
            </a:r>
          </a:p>
        </p:txBody>
      </p:sp>
      <p:pic>
        <p:nvPicPr>
          <p:cNvPr id="20" name="Picture 19" descr="card_a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5708" y="3968496"/>
            <a:ext cx="1564893" cy="1920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14433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A19</a:t>
            </a:r>
          </a:p>
        </p:txBody>
      </p:sp>
      <p:pic>
        <p:nvPicPr>
          <p:cNvPr id="22" name="Picture 21" descr="card_a2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2879" y="3968496"/>
            <a:ext cx="1564893" cy="1920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51604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figures/card_a&lt;NN&gt;.png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venue's own position cards, A21 to A30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Each card carries the entry price the venue holds for the open position, the current price, and the gain or loss. The figures are the venue's own.</a:t>
            </a:r>
          </a:p>
        </p:txBody>
      </p:sp>
      <p:pic>
        <p:nvPicPr>
          <p:cNvPr id="4" name="Picture 3" descr="card_a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95" y="1627632"/>
            <a:ext cx="1564893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A21</a:t>
            </a:r>
          </a:p>
        </p:txBody>
      </p:sp>
      <p:pic>
        <p:nvPicPr>
          <p:cNvPr id="6" name="Picture 5" descr="card_a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366" y="1627632"/>
            <a:ext cx="1564893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0091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A22</a:t>
            </a:r>
          </a:p>
        </p:txBody>
      </p:sp>
      <p:pic>
        <p:nvPicPr>
          <p:cNvPr id="8" name="Picture 7" descr="card_a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537" y="1627632"/>
            <a:ext cx="1564893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77262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A23</a:t>
            </a:r>
          </a:p>
        </p:txBody>
      </p:sp>
      <p:pic>
        <p:nvPicPr>
          <p:cNvPr id="10" name="Picture 9" descr="card_a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708" y="1627632"/>
            <a:ext cx="1564893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4433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A24</a:t>
            </a:r>
          </a:p>
        </p:txBody>
      </p:sp>
      <p:pic>
        <p:nvPicPr>
          <p:cNvPr id="12" name="Picture 11" descr="card_a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9" y="1627632"/>
            <a:ext cx="1564893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51604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A25</a:t>
            </a:r>
          </a:p>
        </p:txBody>
      </p:sp>
      <p:pic>
        <p:nvPicPr>
          <p:cNvPr id="14" name="Picture 13" descr="card_a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195" y="3968496"/>
            <a:ext cx="1564893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A26</a:t>
            </a:r>
          </a:p>
        </p:txBody>
      </p:sp>
      <p:pic>
        <p:nvPicPr>
          <p:cNvPr id="16" name="Picture 15" descr="card_a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1366" y="3968496"/>
            <a:ext cx="1564893" cy="1920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40091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A27</a:t>
            </a:r>
          </a:p>
        </p:txBody>
      </p:sp>
      <p:pic>
        <p:nvPicPr>
          <p:cNvPr id="18" name="Picture 17" descr="card_a2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8537" y="3968496"/>
            <a:ext cx="1564893" cy="1920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77262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A28</a:t>
            </a:r>
          </a:p>
        </p:txBody>
      </p:sp>
      <p:pic>
        <p:nvPicPr>
          <p:cNvPr id="20" name="Picture 19" descr="card_a2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5708" y="3968496"/>
            <a:ext cx="1564893" cy="1920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14433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A29</a:t>
            </a:r>
          </a:p>
        </p:txBody>
      </p:sp>
      <p:pic>
        <p:nvPicPr>
          <p:cNvPr id="22" name="Picture 21" descr="card_a3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2879" y="3968496"/>
            <a:ext cx="1564893" cy="1920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51604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figures/card_a&lt;NN&gt;.png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The venue's own position cards, A31 to A40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Each card carries the entry price the venue holds for the open position, the current price, and the gain or loss. The figures are the venue's own.</a:t>
            </a:r>
          </a:p>
        </p:txBody>
      </p:sp>
      <p:pic>
        <p:nvPicPr>
          <p:cNvPr id="4" name="Picture 3" descr="card_a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95" y="1627632"/>
            <a:ext cx="1564893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A31</a:t>
            </a:r>
          </a:p>
        </p:txBody>
      </p:sp>
      <p:pic>
        <p:nvPicPr>
          <p:cNvPr id="6" name="Picture 5" descr="card_a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366" y="1627632"/>
            <a:ext cx="1564893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0091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7262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A33, no card</a:t>
            </a:r>
          </a:p>
        </p:txBody>
      </p:sp>
      <p:pic>
        <p:nvPicPr>
          <p:cNvPr id="9" name="Picture 8" descr="card_a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708" y="1627632"/>
            <a:ext cx="1564893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4433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A34</a:t>
            </a:r>
          </a:p>
        </p:txBody>
      </p:sp>
      <p:pic>
        <p:nvPicPr>
          <p:cNvPr id="11" name="Picture 10" descr="card_a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2879" y="1627632"/>
            <a:ext cx="1564893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51604" y="3547872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A35</a:t>
            </a:r>
          </a:p>
        </p:txBody>
      </p:sp>
      <p:pic>
        <p:nvPicPr>
          <p:cNvPr id="13" name="Picture 12" descr="card_a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195" y="3968496"/>
            <a:ext cx="1564893" cy="1920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A36</a:t>
            </a:r>
          </a:p>
        </p:txBody>
      </p:sp>
      <p:pic>
        <p:nvPicPr>
          <p:cNvPr id="15" name="Picture 14" descr="card_a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1366" y="3968496"/>
            <a:ext cx="1564893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0091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A37</a:t>
            </a:r>
          </a:p>
        </p:txBody>
      </p:sp>
      <p:pic>
        <p:nvPicPr>
          <p:cNvPr id="17" name="Picture 16" descr="card_a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8537" y="3968496"/>
            <a:ext cx="1564893" cy="1920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77262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433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A39, no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1604" y="5888736"/>
            <a:ext cx="21274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</a:rPr>
              <a:t>A40, no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figures/card_a&lt;NN&gt;.png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What the platform's own grader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Four axes and no more. The overall figure is the unweighted mean of the axes that scored, and 0.5 when none of them could.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920240"/>
          <a:ext cx="1118585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execution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strategic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3291840"/>
          <a:ext cx="1118585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A+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under 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63440"/>
            <a:ext cx="111858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An axis whose price inputs are absent is left out. The market regime rides beside the grade rather than inside it, and carries no score of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src/trading/trade_grader.py, in grade_trade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What this deck does not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A falling average cost is not profit. It does not become profit until units are sold, and no sale enters that line.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A ratio above 1.000 reads the trades already closed. It says nothing about the units still held.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Every base carries a ratio, because every base has four fills or more on each side.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A card's entry price is not the buy line above it. The card follows the open position only and resets to zero on a full close. The buy line counts every buy in the record and never resets.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sell_over_buy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68"/>
                </a:solidFill>
              </a:rPr>
              <a:t>Where every figure came from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63040"/>
          <a:ext cx="111858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tools/build_product_manual.py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docs/manual/figures/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Figures on these slides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Absences stated rather than drawn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card_a33.png, card_a39.png, card_a40.png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export these slides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9,052 fills on 40 bases, 12 Apr to 31 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Exports in the input folder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one 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python -m tools.build_product_manual --evidence-dir &lt;folder&gt;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21208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The deck is a build output. The command above draws the figures, these slides and the manual from one export, so nobody edits a slide by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tools/build_product_manual.py, in write_evidence_deck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Ekthelius's Prototyping Trading Evidence: 04/12/2026~10/31/2026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